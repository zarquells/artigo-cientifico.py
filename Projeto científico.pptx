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Old Standard TT"/>
      <p:regular r:id="rId17"/>
      <p:bold r:id="rId18"/>
      <p: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ldStandardT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ldStandardTT-italic.fntdata"/><Relationship Id="rId6" Type="http://schemas.openxmlformats.org/officeDocument/2006/relationships/slide" Target="slides/slide1.xml"/><Relationship Id="rId18" Type="http://schemas.openxmlformats.org/officeDocument/2006/relationships/font" Target="fonts/OldStandardT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0357f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0357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c4bd999c9_0_7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c4bd999c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c4bd999c9_0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c4bd999c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c4bd999c9_0_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c4bd999c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c4bd999c9_0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c4bd999c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c4bd999c9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c4bd999c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c4bd999c9_0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c4bd999c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c4bd999c9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c4bd999c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c4bd999c9_0_6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c4bd999c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652200"/>
            <a:ext cx="8118600" cy="20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Educação, mercado de trabalho e PIB: Hipóteses sobre o crescimento econômico brasileiro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Artigo Científico</a:t>
            </a:r>
            <a:endParaRPr/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1025400" y="4355989"/>
            <a:ext cx="8118600" cy="7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Erica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Gabrielly</a:t>
            </a:r>
            <a:endParaRPr/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712700" y="-3732350"/>
            <a:ext cx="1726450" cy="917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 ao tema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171675"/>
            <a:ext cx="8520600" cy="12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i="1" lang="pt-BR" sz="1700">
                <a:latin typeface="Georgia"/>
                <a:ea typeface="Georgia"/>
                <a:cs typeface="Georgia"/>
                <a:sym typeface="Georgia"/>
              </a:rPr>
              <a:t>“O Produto Interno Bruto (PIB) é um indicador de crescimento econômico composto por atividades produtivas, sendo empregado para entender as potências de um país como uma economia emergente ou melhor o índice de desenvolvimento humano em comparação ao resto do mundo.”</a:t>
            </a:r>
            <a:endParaRPr i="1" sz="17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" name="Google Shape;69;p14"/>
          <p:cNvSpPr txBox="1"/>
          <p:nvPr>
            <p:ph type="title"/>
          </p:nvPr>
        </p:nvSpPr>
        <p:spPr>
          <a:xfrm>
            <a:off x="227850" y="2918325"/>
            <a:ext cx="8688300" cy="18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Status do Brasil</a:t>
            </a:r>
            <a:endParaRPr/>
          </a:p>
          <a:p>
            <a:pPr indent="0" lvl="0" marL="22860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/>
              <a:t>Empregabilidade</a:t>
            </a:r>
            <a:endParaRPr/>
          </a:p>
          <a:p>
            <a:pPr indent="0" lvl="0" marL="45720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/>
              <a:t>Profissionalismo</a:t>
            </a:r>
            <a:endParaRPr/>
          </a:p>
          <a:p>
            <a:pPr indent="0" lvl="0" marL="68580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/>
              <a:t>  Estudo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227850" y="1953000"/>
            <a:ext cx="8688300" cy="12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2700">
                <a:latin typeface="Georgia"/>
                <a:ea typeface="Georgia"/>
                <a:cs typeface="Georgia"/>
                <a:sym typeface="Georgia"/>
              </a:rPr>
              <a:t>Será que o PIB nacional acompanha a taxa de crescimento da população brasileira qualificada?</a:t>
            </a:r>
            <a:endParaRPr sz="27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Hipótese formulada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Investigação dos dados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Georgia"/>
                <a:ea typeface="Georgia"/>
                <a:cs typeface="Georgia"/>
                <a:sym typeface="Georgia"/>
              </a:rPr>
              <a:t>Começamos com a ideia de analisar o PIB e aplicar hipóteses relacionadas a educação.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700">
                <a:latin typeface="Georgia"/>
                <a:ea typeface="Georgia"/>
                <a:cs typeface="Georgia"/>
                <a:sym typeface="Georgia"/>
              </a:rPr>
              <a:t>As nossas principais fontes de dados…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Font typeface="Georgia"/>
              <a:buAutoNum type="arabicPeriod"/>
            </a:pPr>
            <a:r>
              <a:rPr lang="pt-BR" sz="1700">
                <a:latin typeface="Georgia"/>
                <a:ea typeface="Georgia"/>
                <a:cs typeface="Georgia"/>
                <a:sym typeface="Georgia"/>
              </a:rPr>
              <a:t>The World Bank In Brazil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Font typeface="Georgia"/>
              <a:buAutoNum type="arabicPeriod"/>
            </a:pPr>
            <a:r>
              <a:rPr lang="pt-BR" sz="1700">
                <a:latin typeface="Georgia"/>
                <a:ea typeface="Georgia"/>
                <a:cs typeface="Georgia"/>
                <a:sym typeface="Georgia"/>
              </a:rPr>
              <a:t>Wordometer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Font typeface="Georgia"/>
              <a:buAutoNum type="arabicPeriod"/>
            </a:pPr>
            <a:r>
              <a:rPr lang="pt-BR" sz="1700">
                <a:latin typeface="Georgia"/>
                <a:ea typeface="Georgia"/>
                <a:cs typeface="Georgia"/>
                <a:sym typeface="Georgia"/>
              </a:rPr>
              <a:t>IBGE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rtl="0" algn="l">
              <a:spcBef>
                <a:spcPts val="1600"/>
              </a:spcBef>
              <a:spcAft>
                <a:spcPts val="1600"/>
              </a:spcAft>
              <a:buSzPts val="1700"/>
              <a:buFont typeface="Georgia"/>
              <a:buAutoNum type="arabicPeriod"/>
            </a:pPr>
            <a:r>
              <a:rPr lang="pt-BR" sz="1700">
                <a:latin typeface="Georgia"/>
                <a:ea typeface="Georgia"/>
                <a:cs typeface="Georgia"/>
                <a:sym typeface="Georgia"/>
              </a:rPr>
              <a:t>ONU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9000" y="1222800"/>
            <a:ext cx="4527600" cy="3294900"/>
          </a:xfrm>
          <a:prstGeom prst="roundRect">
            <a:avLst>
              <a:gd fmla="val 519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Variáveis</a:t>
            </a:r>
            <a:r>
              <a:rPr lang="pt-BR"/>
              <a:t> extraídas</a:t>
            </a:r>
            <a:endParaRPr/>
          </a:p>
        </p:txBody>
      </p:sp>
      <p:sp>
        <p:nvSpPr>
          <p:cNvPr id="88" name="Google Shape;88;p17"/>
          <p:cNvSpPr txBox="1"/>
          <p:nvPr>
            <p:ph type="title"/>
          </p:nvPr>
        </p:nvSpPr>
        <p:spPr>
          <a:xfrm>
            <a:off x="540000" y="1238325"/>
            <a:ext cx="8376300" cy="341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➔"/>
            </a:pPr>
            <a:r>
              <a:rPr lang="pt-BR" sz="2100">
                <a:latin typeface="Georgia"/>
                <a:ea typeface="Georgia"/>
                <a:cs typeface="Georgia"/>
                <a:sym typeface="Georgia"/>
              </a:rPr>
              <a:t>PIB em dólares;</a:t>
            </a:r>
            <a:endParaRPr sz="2100"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Font typeface="Georgia"/>
              <a:buChar char="➔"/>
            </a:pPr>
            <a:r>
              <a:rPr lang="pt-BR" sz="2100">
                <a:latin typeface="Georgia"/>
                <a:ea typeface="Georgia"/>
                <a:cs typeface="Georgia"/>
                <a:sym typeface="Georgia"/>
              </a:rPr>
              <a:t>Total da população brasileira;</a:t>
            </a:r>
            <a:endParaRPr sz="2100"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Font typeface="Georgia"/>
              <a:buChar char="➔"/>
            </a:pPr>
            <a:r>
              <a:rPr lang="pt-BR" sz="2100">
                <a:latin typeface="Georgia"/>
                <a:ea typeface="Georgia"/>
                <a:cs typeface="Georgia"/>
                <a:sym typeface="Georgia"/>
              </a:rPr>
              <a:t>Total da população +15 alfabetizada;</a:t>
            </a:r>
            <a:endParaRPr sz="2100"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Font typeface="Georgia"/>
              <a:buChar char="➔"/>
            </a:pPr>
            <a:r>
              <a:rPr lang="pt-BR" sz="2100">
                <a:latin typeface="Georgia"/>
                <a:ea typeface="Georgia"/>
                <a:cs typeface="Georgia"/>
                <a:sym typeface="Georgia"/>
              </a:rPr>
              <a:t>Total da população +25 graduada;</a:t>
            </a:r>
            <a:endParaRPr sz="2100"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1000"/>
              </a:spcAft>
              <a:buSzPts val="2100"/>
              <a:buFont typeface="Georgia"/>
              <a:buChar char="➔"/>
            </a:pPr>
            <a:r>
              <a:rPr lang="pt-BR" sz="2100">
                <a:latin typeface="Georgia"/>
                <a:ea typeface="Georgia"/>
                <a:cs typeface="Georgia"/>
                <a:sym typeface="Georgia"/>
              </a:rPr>
              <a:t>Força de Trabalho Qualificada.</a:t>
            </a:r>
            <a:endParaRPr sz="21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Aplicando testes nos dados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7500" y="1058225"/>
            <a:ext cx="5736501" cy="408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71675"/>
            <a:ext cx="2560800" cy="23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700">
                <a:latin typeface="Georgia"/>
                <a:ea typeface="Georgia"/>
                <a:cs typeface="Georgia"/>
                <a:sym typeface="Georgia"/>
              </a:rPr>
              <a:t>Com a fonte de dados reunida, começamos a tratar e aplicar as metodologias que conhecemos em sala de aula.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Novo ponto de vista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71675"/>
            <a:ext cx="2508300" cy="23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700">
                <a:latin typeface="Georgia"/>
                <a:ea typeface="Georgia"/>
                <a:cs typeface="Georgia"/>
                <a:sym typeface="Georgia"/>
              </a:rPr>
              <a:t>A partir dos dados tratados, começamos a aplicar as metodologias nas taxas de diferença entre cada ano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4021" y="1058225"/>
            <a:ext cx="5919979" cy="408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Explorando o comportamento dos dados</a:t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9200" y="1519225"/>
            <a:ext cx="3585050" cy="350948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17563" y="1270025"/>
            <a:ext cx="41733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700">
                <a:latin typeface="Georgia"/>
                <a:ea typeface="Georgia"/>
                <a:cs typeface="Georgia"/>
                <a:sym typeface="Georgia"/>
              </a:rPr>
              <a:t>PIB ao longo dos anos (2000-2025)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666763"/>
            <a:ext cx="3585050" cy="276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4825063" y="1016825"/>
            <a:ext cx="41733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700">
                <a:latin typeface="Georgia"/>
                <a:ea typeface="Georgia"/>
                <a:cs typeface="Georgia"/>
                <a:sym typeface="Georgia"/>
              </a:rPr>
              <a:t>Taxa do PIB comparado a outros dados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Explorando o comportamento dos dados</a:t>
            </a:r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950" y="1828688"/>
            <a:ext cx="4120799" cy="276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5100" y="1825025"/>
            <a:ext cx="4120799" cy="276111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539999" y="1390025"/>
            <a:ext cx="39450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700">
                <a:latin typeface="Georgia"/>
                <a:ea typeface="Georgia"/>
                <a:cs typeface="Georgia"/>
                <a:sym typeface="Georgia"/>
              </a:rPr>
              <a:t>Correlação de graduados com o PIB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4931099" y="1442525"/>
            <a:ext cx="39012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700">
                <a:latin typeface="Georgia"/>
                <a:ea typeface="Georgia"/>
                <a:cs typeface="Georgia"/>
                <a:sym typeface="Georgia"/>
              </a:rPr>
              <a:t>Correlação de alfabetizados com o PIB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157125"/>
            <a:ext cx="8520600" cy="9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Conclusão sobre a hipótese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938400"/>
            <a:ext cx="83733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500">
                <a:latin typeface="Georgia"/>
                <a:ea typeface="Georgia"/>
                <a:cs typeface="Georgia"/>
                <a:sym typeface="Georgia"/>
              </a:rPr>
              <a:t>A partir dos gráficos e interpretações obtidas, concluímos que no período de tempo selecionado, não foi possível correlacionar o crescimento, ou queda, da qualificação educacional da população e força de trabalho com as variações do PIB. 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311700" y="2252275"/>
            <a:ext cx="85206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É importante notar que a diferença de dados e resultados apresentados no Brasil em comparação com nações bem desenvolvidas é um ponto de atenção ao tema exposto neste artigo. A educação é um investimento capaz de aumentar a produtividade e a renda individual, alavancando </a:t>
            </a:r>
            <a:r>
              <a:rPr lang="pt-BR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</a:t>
            </a:r>
            <a:r>
              <a:rPr lang="pt-BR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desenvolvimento nacional. Esta relação é evidenciada em relatórios internacionais, onde a porcentagem de qualificação da população em países desenvolvidos acompanha um bom indicativo de progresso socioeconômico (OCDE, 2022).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Obrigada!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